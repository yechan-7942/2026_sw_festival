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격차 점수</c:v>
                </c:pt>
              </c:strCache>
            </c:strRef>
          </c:tx>
          <c:spPr>
            <a:solidFill>
              <a:srgbClr val="8FD0C8"/>
            </a:solidFill>
          </c:spPr>
          <c:dPt>
            <c:idx val="0"/>
            <c:spPr>
              <a:solidFill>
                <a:srgbClr val="8FD0C8"/>
              </a:solidFill>
            </c:spPr>
          </c:dPt>
          <c:dPt>
            <c:idx val="1"/>
            <c:spPr>
              <a:solidFill>
                <a:srgbClr val="8FD0C8"/>
              </a:solidFill>
            </c:spPr>
          </c:dPt>
          <c:dPt>
            <c:idx val="2"/>
            <c:spPr>
              <a:solidFill>
                <a:srgbClr val="8FD0C8"/>
              </a:solidFill>
            </c:spPr>
          </c:dPt>
          <c:dPt>
            <c:idx val="3"/>
            <c:spPr>
              <a:solidFill>
                <a:srgbClr val="8FD0C8"/>
              </a:solidFill>
            </c:spPr>
          </c:dPt>
          <c:dPt>
            <c:idx val="4"/>
            <c:spPr>
              <a:solidFill>
                <a:srgbClr val="0F9688"/>
              </a:solidFill>
            </c:spPr>
          </c:dPt>
          <c:dPt>
            <c:idx val="5"/>
            <c:spPr>
              <a:solidFill>
                <a:srgbClr val="0F9688"/>
              </a:solidFill>
            </c:spPr>
          </c:dPt>
          <c:dPt>
            <c:idx val="6"/>
            <c:spPr>
              <a:solidFill>
                <a:srgbClr val="0F9688"/>
              </a:solidFill>
            </c:spPr>
          </c:dPt>
          <c:dPt>
            <c:idx val="7"/>
            <c:spPr>
              <a:solidFill>
                <a:srgbClr val="0F9688"/>
              </a:solidFill>
            </c:spPr>
          </c:dPt>
          <c:cat>
            <c:strRef>
              <c:f>Sheet1!$A$2:$A$9</c:f>
              <c:strCache>
                <c:ptCount val="8"/>
                <c:pt idx="0">
                  <c:v>청하면</c:v>
                </c:pt>
                <c:pt idx="1">
                  <c:v>신광면</c:v>
                </c:pt>
                <c:pt idx="2">
                  <c:v>동해면</c:v>
                </c:pt>
                <c:pt idx="3">
                  <c:v>죽장면</c:v>
                </c:pt>
                <c:pt idx="4">
                  <c:v>대송면</c:v>
                </c:pt>
                <c:pt idx="5">
                  <c:v>호미곶면</c:v>
                </c:pt>
                <c:pt idx="6">
                  <c:v>장기면</c:v>
                </c:pt>
                <c:pt idx="7">
                  <c:v>구룡포읍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0.501</c:v>
                </c:pt>
                <c:pt idx="1">
                  <c:v>0.505</c:v>
                </c:pt>
                <c:pt idx="2">
                  <c:v>0.506</c:v>
                </c:pt>
                <c:pt idx="3">
                  <c:v>0.54</c:v>
                </c:pt>
                <c:pt idx="4">
                  <c:v>0.639</c:v>
                </c:pt>
                <c:pt idx="5">
                  <c:v>0.711</c:v>
                </c:pt>
                <c:pt idx="6">
                  <c:v>0.724</c:v>
                </c:pt>
                <c:pt idx="7">
                  <c:v>0.883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>
                  <a:latin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73152" cy="548640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141E2E"/>
                </a:solidFill>
                <a:latin typeface="Apple SD Gothic Neo"/>
              </a:rPr>
              <a:t>이 프로젝트가 다른 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5440680" cy="228600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544068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9834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141E2E"/>
                </a:solidFill>
                <a:latin typeface="Apple SD Gothic Neo"/>
              </a:rPr>
              <a:t>1. 부족한 곳을 찾는다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555F6D"/>
                </a:solidFill>
                <a:latin typeface="Apple SD Gothic Neo"/>
              </a:rPr>
              <a:t>병원·약국 위치와 인구를 놓고 동마다 의료 접근성을 계산했습니다. 여기에 외국인 비율을 겹쳐서, 어느 동이 가장 아쉬운지 점수로 뽑았습니다.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1645920"/>
            <a:ext cx="5440680" cy="228600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99632" y="1645920"/>
            <a:ext cx="544068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2" y="1920240"/>
            <a:ext cx="498348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141E2E"/>
                </a:solidFill>
                <a:latin typeface="Apple SD Gothic Neo"/>
              </a:rPr>
              <a:t>2. 정책 초안을 쓴다</a:t>
            </a:r>
          </a:p>
          <a:p>
            <a:pPr>
              <a:spcAft>
                <a:spcPts val="500"/>
              </a:spcAft>
            </a:pPr>
            <a:r>
              <a:rPr sz="1700" b="0">
                <a:solidFill>
                  <a:srgbClr val="555F6D"/>
                </a:solidFill>
                <a:latin typeface="Apple SD Gothic Neo"/>
              </a:rPr>
              <a:t>점수와 동별 사정을 LLM에 넘겨서 29개 동의 정책 카드를 썼습니다. 숫자가 틀리거나 이상한 제안이 나오면 코드가 걸러내고 다시 쓰게 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97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555F6D"/>
                </a:solidFill>
                <a:latin typeface="Apple SD Gothic Neo"/>
              </a:rPr>
              <a:t>수요 위치는 집계구 1,046개의 인구로 가중한 중심점을 썼습니다.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73152" cy="548640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141E2E"/>
                </a:solidFill>
                <a:latin typeface="Apple SD Gothic Neo"/>
              </a:rPr>
              <a:t>어떤 데이터를 썼나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3566160" cy="237744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6616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141E2E"/>
                </a:solidFill>
                <a:latin typeface="Apple SD Gothic Neo"/>
              </a:rPr>
              <a:t>외국인·인구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555F6D"/>
                </a:solidFill>
                <a:latin typeface="Apple SD Gothic Neo"/>
              </a:rPr>
              <a:t>포항시 지역통계(KOSIS) 2025년. 동 경계와 집계구 인구는 통계청 SGIS에서 받았습니다.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5968" y="1463040"/>
            <a:ext cx="3566160" cy="237744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463040"/>
            <a:ext cx="356616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1737360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141E2E"/>
                </a:solidFill>
                <a:latin typeface="Apple SD Gothic Neo"/>
              </a:rPr>
              <a:t>병원·약국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555F6D"/>
                </a:solidFill>
                <a:latin typeface="Apple SD Gothic Neo"/>
              </a:rPr>
              <a:t>심평원 자료 908곳. 병원은 의사 수까지 반영했습니다.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2" y="1463040"/>
            <a:ext cx="3566160" cy="237744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4152" y="1463040"/>
            <a:ext cx="356616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737360"/>
            <a:ext cx="31089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141E2E"/>
                </a:solidFill>
                <a:latin typeface="Apple SD Gothic Neo"/>
              </a:rPr>
              <a:t>배경 조사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555F6D"/>
                </a:solidFill>
                <a:latin typeface="Apple SD Gothic Neo"/>
              </a:rPr>
              <a:t>경북 외국인주민 실태조사(2023), 여가부 전국다문화가족실태조사(2025)의 공개 결과.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06240"/>
            <a:ext cx="11091672" cy="1737360"/>
          </a:xfrm>
          <a:prstGeom prst="rect">
            <a:avLst/>
          </a:prstGeom>
          <a:solidFill>
            <a:srgbClr val="EC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0F9688"/>
                </a:solidFill>
                <a:latin typeface="Apple SD Gothic Neo"/>
              </a:rPr>
              <a:t>못 구한 데이터도 있었습니다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141E2E"/>
                </a:solidFill>
                <a:latin typeface="Apple SD Gothic Neo"/>
              </a:rPr>
              <a:t>금융은 상가정보 API에 포항 데이터가 0건이라 빼고 의료만 봤습니다. 다문화가족실태조사 원자료는 유료라 공개 보고서로 바꿨습니다. 그래서 동마다 다른 체감 차이는 이번 분석에 들어 있지 않습니다.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73152" cy="548640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141E2E"/>
                </a:solidFill>
                <a:latin typeface="Apple SD Gothic Neo"/>
              </a:rPr>
              <a:t>격차 점수는 이렇게 계산했습니다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1672" cy="1371600"/>
          </a:xfrm>
          <a:prstGeom prst="rect">
            <a:avLst/>
          </a:prstGeom>
          <a:solidFill>
            <a:srgbClr val="EC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500"/>
              </a:spcAft>
            </a:pPr>
            <a:r>
              <a:rPr sz="2600" b="1">
                <a:solidFill>
                  <a:srgbClr val="141E2E"/>
                </a:solidFill>
                <a:latin typeface="Apple SD Gothic Neo"/>
              </a:rPr>
              <a:t>격차 점수 = 0.5 × 외국인 비율 + 0.5 × (1 − 의료 접근성)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55F6D"/>
                </a:solidFill>
                <a:latin typeface="Apple SD Gothic Neo"/>
              </a:rPr>
              <a:t>두 값 모두 0에서 1 사이로 맞춘 뒤 계산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3566160" cy="201168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108960"/>
            <a:ext cx="356616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383279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141E2E"/>
                </a:solidFill>
                <a:latin typeface="Apple SD Gothic Neo"/>
              </a:rPr>
              <a:t>외국인 비율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555F6D"/>
                </a:solidFill>
                <a:latin typeface="Apple SD Gothic Neo"/>
              </a:rPr>
              <a:t>동 인구 중 외국인이 차지하는 비율입니다.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3108960"/>
            <a:ext cx="3566160" cy="201168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3108960"/>
            <a:ext cx="356616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3383279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141E2E"/>
                </a:solidFill>
                <a:latin typeface="Apple SD Gothic Neo"/>
              </a:rPr>
              <a:t>의료 접근성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555F6D"/>
                </a:solidFill>
                <a:latin typeface="Apple SD Gothic Neo"/>
              </a:rPr>
              <a:t>2SFCA 지수입니다. 기준 거리는 3km로 하고, 1km와 5km로도 돌려봤습니다.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2" y="3108960"/>
            <a:ext cx="3566160" cy="201168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74152" y="3108960"/>
            <a:ext cx="356616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3383279"/>
            <a:ext cx="31089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141E2E"/>
                </a:solidFill>
                <a:latin typeface="Apple SD Gothic Neo"/>
              </a:rPr>
              <a:t>가중치 0.5 : 0.5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555F6D"/>
                </a:solidFill>
                <a:latin typeface="Apple SD Gothic Neo"/>
              </a:rPr>
              <a:t>한쪽에 무게를 둘 근거가 없어서 같게 뒀고, GM 검수를 받았습니다.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4406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800" b="1">
                <a:solidFill>
                  <a:srgbClr val="0F9688"/>
                </a:solidFill>
                <a:latin typeface="Apple SD Gothic Neo"/>
              </a:rPr>
              <a:t>기준 거리를 1·3·5km로 바꿔도 구룡포읍, 장기면, 호미곶면, 대송면은 늘 5위 안에 들었습니다.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73152" cy="548640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141E2E"/>
                </a:solidFill>
                <a:latin typeface="Apple SD Gothic Neo"/>
              </a:rPr>
              <a:t>정책 카드는 이렇게 걸러냈습니다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3566160" cy="301752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6616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310896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141E2E"/>
                </a:solidFill>
                <a:latin typeface="Apple SD Gothic Neo"/>
              </a:rPr>
              <a:t>넣는 것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55F6D"/>
                </a:solidFill>
                <a:latin typeface="Apple SD Gothic Neo"/>
              </a:rPr>
              <a:t>격차 점수, 동별 사실(외국인 수, 읍·면·동 구분), 조사 수치. 조사 수치와 동 사실은 구분해서 인용하게 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5968" y="1463040"/>
            <a:ext cx="3566160" cy="301752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463040"/>
            <a:ext cx="356616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1737360"/>
            <a:ext cx="310896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141E2E"/>
                </a:solidFill>
                <a:latin typeface="Apple SD Gothic Neo"/>
              </a:rPr>
              <a:t>거르는 것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55F6D"/>
                </a:solidFill>
                <a:latin typeface="Apple SD Gothic Neo"/>
              </a:rPr>
              <a:t>추론 과정이 새어 나온 글, 한자·외국어가 섞인 글, 중간에 잘린 글, 입력에 없는 숫자, '처방전 없이 약 제공' 같은 제안은 다시 쓰게 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2" y="1463040"/>
            <a:ext cx="3566160" cy="301752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4152" y="1463040"/>
            <a:ext cx="356616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737360"/>
            <a:ext cx="310896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141E2E"/>
                </a:solidFill>
                <a:latin typeface="Apple SD Gothic Neo"/>
              </a:rPr>
              <a:t>사람이 보는 것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555F6D"/>
                </a:solidFill>
                <a:latin typeface="Apple SD Gothic Neo"/>
              </a:rPr>
              <a:t>코드는 형식과 숫자만 확인합니다. 정책이 실제로 타당한지는 GM이 검수합니다.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46320"/>
            <a:ext cx="11091672" cy="1188720"/>
          </a:xfrm>
          <a:prstGeom prst="rect">
            <a:avLst/>
          </a:prstGeom>
          <a:solidFill>
            <a:srgbClr val="EC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500"/>
              </a:spcAft>
            </a:pPr>
            <a:r>
              <a:rPr sz="1600" b="1">
                <a:solidFill>
                  <a:srgbClr val="141E2E"/>
                </a:solidFill>
                <a:latin typeface="Apple SD Gothic Neo"/>
              </a:rPr>
              <a:t>처음엔 거르는 장치 없이 돌렸는데, 29건이 거의 같은 처방으로 나왔고 약사법에 맞지 않는 제안도 있었습니다.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73152" cy="548640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141E2E"/>
                </a:solidFill>
                <a:latin typeface="Apple SD Gothic Neo"/>
              </a:rPr>
              <a:t>결과: 남구 외곽 읍·면 4곳이 먼저 볼 곳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371600"/>
          <a:ext cx="67665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7498079" y="1463040"/>
            <a:ext cx="4142232" cy="2103120"/>
          </a:xfrm>
          <a:prstGeom prst="rect">
            <a:avLst/>
          </a:prstGeom>
          <a:solidFill>
            <a:srgbClr val="EC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1554480"/>
            <a:ext cx="3749039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500"/>
              </a:spcAft>
            </a:pPr>
            <a:r>
              <a:rPr sz="4000" b="1">
                <a:solidFill>
                  <a:srgbClr val="0F9688"/>
                </a:solidFill>
                <a:latin typeface="Apple SD Gothic Neo"/>
              </a:rPr>
              <a:t>4곳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41E2E"/>
                </a:solidFill>
                <a:latin typeface="Apple SD Gothic Neo"/>
              </a:rPr>
              <a:t>기준 거리를 바꿔도 5위 안에 남은 동 (진한 막대)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3794760"/>
            <a:ext cx="414223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0">
                <a:solidFill>
                  <a:srgbClr val="141E2E"/>
                </a:solidFill>
                <a:latin typeface="Apple SD Gothic Neo"/>
              </a:rPr>
              <a:t>구룡포읍, 장기면, 호미곶면, 대송면은 포항에서 외국인 비율이 가장 높은 네 곳이고, 의료 접근성은 중간 이하입니다.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555F6D"/>
                </a:solidFill>
                <a:latin typeface="Apple SD Gothic Neo"/>
              </a:rPr>
              <a:t>반대로 송라면처럼 기준 거리에 따라 순위가 14계단 움직이는 동은 몇 위라고 말하지 않았습니다.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73152" cy="548640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141E2E"/>
                </a:solidFill>
                <a:latin typeface="Apple SD Gothic Neo"/>
              </a:rPr>
              <a:t>다른 방법으로도 비교해 봤습니다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3566160" cy="256032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6616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31089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141E2E"/>
                </a:solidFill>
                <a:latin typeface="Apple SD Gothic Neo"/>
              </a:rPr>
              <a:t>가중치를 바꿔도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0F9688"/>
                </a:solidFill>
                <a:latin typeface="Apple SD Gothic Neo"/>
              </a:rPr>
              <a:t>0.4 이상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555F6D"/>
                </a:solidFill>
                <a:latin typeface="Apple SD Gothic Neo"/>
              </a:rPr>
              <a:t>외국인 비율 가중치를 0부터 1까지 바꿔 봤습니다. 0.4 이상이면 1·3·5km 어디서든 4곳이 5위 안입니다. 접근성만 크게 보면 밀려납니다.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5968" y="1463040"/>
            <a:ext cx="3566160" cy="256032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463040"/>
            <a:ext cx="356616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1691640"/>
            <a:ext cx="31089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141E2E"/>
                </a:solidFill>
                <a:latin typeface="Apple SD Gothic Neo"/>
              </a:rPr>
              <a:t>접근성 지표를 바꿔도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0F9688"/>
                </a:solidFill>
                <a:latin typeface="Apple SD Gothic Neo"/>
              </a:rPr>
              <a:t>4개 모두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555F6D"/>
                </a:solidFill>
                <a:latin typeface="Apple SD Gothic Neo"/>
              </a:rPr>
              <a:t>E2SFCA, 3km 안 의사 수, 가장 가까운 병원까지 거리, 동 안 의사 수로 바꿔 봤습니다. 2SFCA와 순위상관은 0.44~0.90입니다.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2" y="1463040"/>
            <a:ext cx="3566160" cy="256032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4152" y="1463040"/>
            <a:ext cx="356616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1691640"/>
            <a:ext cx="31089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141E2E"/>
                </a:solidFill>
                <a:latin typeface="Apple SD Gothic Neo"/>
              </a:rPr>
              <a:t>도로 거리로 재도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0F9688"/>
                </a:solidFill>
                <a:latin typeface="Apple SD Gothic Neo"/>
              </a:rPr>
              <a:t>1·3·5km 모두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555F6D"/>
                </a:solidFill>
                <a:latin typeface="Apple SD Gothic Neo"/>
              </a:rPr>
              <a:t>실제 도로는 직선보다 1.28배쯤 멉니다. 도로 거리로 1·3·5km를 다시 계산해도 순위상관이 0.90 이상이었습니다.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43400"/>
            <a:ext cx="11091672" cy="1371600"/>
          </a:xfrm>
          <a:prstGeom prst="rect">
            <a:avLst/>
          </a:prstGeom>
          <a:solidFill>
            <a:srgbClr val="EC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389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500"/>
              </a:spcAft>
            </a:pPr>
            <a:r>
              <a:rPr sz="1600" b="1">
                <a:solidFill>
                  <a:srgbClr val="141E2E"/>
                </a:solidFill>
                <a:latin typeface="Apple SD Gothic Neo"/>
              </a:rPr>
              <a:t>다만 4곳이 계속 남는 건 주로 외국인 비율이 높아서입니다.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41E2E"/>
                </a:solidFill>
                <a:latin typeface="Apple SD Gothic Neo"/>
              </a:rPr>
              <a:t>접근성만 따로 보면 29개 동 중 2위~29위로 흩어집니다(1위가 가장 나쁨). 그래서 '병원이 가장 부족한 곳'이 아니라 '먼저 살펴볼 곳'으로 봅니다. 정답 데이터가 없어 정확도를 잰 것은 아닙니다.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73152" cy="548640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141E2E"/>
                </a:solidFill>
                <a:latin typeface="Apple SD Gothic Neo"/>
              </a:rPr>
              <a:t>만든 결과물</a:t>
            </a:r>
          </a:p>
        </p:txBody>
      </p:sp>
      <p:pic>
        <p:nvPicPr>
          <p:cNvPr id="4" name="Picture 3" descr="g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035040" cy="431074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6560" y="1463040"/>
            <a:ext cx="4873752" cy="475488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66560" y="1463040"/>
            <a:ext cx="4873752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5160" y="1691640"/>
            <a:ext cx="4434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700" b="1">
                <a:solidFill>
                  <a:srgbClr val="141E2E"/>
                </a:solidFill>
                <a:latin typeface="Apple SD Gothic Neo"/>
              </a:rPr>
              <a:t>구룡포읍 정책 카드 (격차 1위)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555F6D"/>
                </a:solidFill>
                <a:latin typeface="Apple SD Gothic Neo"/>
              </a:rPr>
              <a:t>[근거] 경북 1권역 조사에 따르면 병원/의원 이용 비율은 62.3%라고 합니다.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555F6D"/>
                </a:solidFill>
                <a:latin typeface="Apple SD Gothic Neo"/>
              </a:rPr>
              <a:t>포항시 구룡포읍의 외국인 주민 비율은 15.1%로, 읍 주민센터에 외국인 전용 건강 상담 창구를 설치하고 주 2회 간호사가 방문하여 기본 건강 검진 및 언어 지원을 제공합니다.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555F6D"/>
                </a:solidFill>
                <a:latin typeface="Apple SD Gothic Neo"/>
              </a:rPr>
              <a:t>이와 함께 지역 내 문화센터에서 모국어별 건강 교육 워크숍을 정기적으로 개최하여 예방 의료 인식을 높입니다.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11480"/>
            <a:ext cx="73152" cy="548640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141E2E"/>
                </a:solidFill>
                <a:latin typeface="Apple SD Gothic Neo"/>
              </a:rPr>
              <a:t>기대하는 점과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5440680" cy="448056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40680" cy="64008"/>
          </a:xfrm>
          <a:prstGeom prst="rect">
            <a:avLst/>
          </a:prstGeom>
          <a:solidFill>
            <a:srgbClr val="0F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49377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2000" b="1">
                <a:solidFill>
                  <a:srgbClr val="0F9688"/>
                </a:solidFill>
                <a:latin typeface="Apple SD Gothic Neo"/>
              </a:rPr>
              <a:t>기대하는 점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41E2E"/>
                </a:solidFill>
                <a:latin typeface="Apple SD Gothic Neo"/>
              </a:rPr>
              <a:t>어느 동부터 살펴볼지 데이터로 정할 수 있습니다.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41E2E"/>
                </a:solidFill>
                <a:latin typeface="Apple SD Gothic Neo"/>
              </a:rPr>
              <a:t>상위 4곳은 기준을 바꿔도 흔들리지 않아서, 예산을 먼저 쓸 후보로 볼 수 있습니다.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41E2E"/>
                </a:solidFill>
                <a:latin typeface="Apple SD Gothic Neo"/>
              </a:rPr>
              <a:t>외국인 주민이 병원을 이용하기 편해지는 쪽으로 이어집니다.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1463040"/>
            <a:ext cx="5440680" cy="4480560"/>
          </a:xfrm>
          <a:prstGeom prst="rect">
            <a:avLst/>
          </a:prstGeom>
          <a:solidFill>
            <a:srgbClr val="F6F8FA"/>
          </a:solidFill>
          <a:ln w="9525">
            <a:solidFill>
              <a:srgbClr val="E2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99632" y="1463040"/>
            <a:ext cx="5440680" cy="64008"/>
          </a:xfrm>
          <a:prstGeom prst="rect">
            <a:avLst/>
          </a:prstGeom>
          <a:solidFill>
            <a:srgbClr val="555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737360"/>
            <a:ext cx="49377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2000" b="1">
                <a:solidFill>
                  <a:srgbClr val="555F6D"/>
                </a:solidFill>
                <a:latin typeface="Apple SD Gothic Neo"/>
              </a:rPr>
              <a:t>한계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41E2E"/>
                </a:solidFill>
                <a:latin typeface="Apple SD Gothic Neo"/>
              </a:rPr>
              <a:t>동마다 다른 체감 결핍은 담지 못했습니다. 배경 조사는 경북 1권역·전국 수치입니다.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41E2E"/>
                </a:solidFill>
                <a:latin typeface="Apple SD Gothic Neo"/>
              </a:rPr>
              <a:t>지표는 의료 하나뿐입니다. 방법을 바꿔 비교는 했지만, 실제 불편과 맞는지 확인할 현장 자료는 아직 없습니다.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41E2E"/>
                </a:solidFill>
                <a:latin typeface="Apple SD Gothic Neo"/>
              </a:rPr>
              <a:t>다른 도시에 쓰려면 읍면동별 외국인 주민 자료가 먼저 있어야 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