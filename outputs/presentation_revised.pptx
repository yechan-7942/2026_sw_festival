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C5CAB"/>
                </a:solidFill>
                <a:latin typeface="Apple SD Gothic Neo"/>
              </a:rPr>
              <a:t>핵심 차별점: 2단 파이프라인 + 근거 기반 LLM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1단계  2SFCA 공간분석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공급량·수요량·거리를 결합해 행정동별 의료 접근성을 지수화하고, 외국인 비율과 합쳐 격차 점수를 계산합니다. 수요점은 집계구 1,046개의 인구로 가중한 중심점입니다.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2단계  LLM 정책 카드 생성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격차 점수·행정동 사실(외국인 수·비율, 면/읍/동 성격, 격차 유형)과 공개 실태조사 수치를 근거로 29개 행정동의 정책 카드를 만들고, 수치·한자·부적절 제안을 코드로 걸러 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C5CAB"/>
                </a:solidFill>
                <a:latin typeface="Apple SD Gothic Neo"/>
              </a:rPr>
              <a:t>활용 데이터와 데이터 공백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외국인·총인구: 포항시 지역통계(KOSIS), 2025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행정동 경계·집계구 인구: 통계청 SGIS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의료 공급: 심평원 병원·약국 (908건, 병원은 총의사수 반영)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배경 근거: 경상북도 외국인주민 실태조사(2023, 포항 속한 1권역) + 여가부 전국다문화가족실태조사(2025)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데이터가 없을 때 멈추지 않고 한계를 밝히며 진행했습니다.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  - 금융: 상가정보 API에 레코드 0건 → 의료 단일 지수로 확정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  - 다문화가족실태조사 원자료: 유료 원격접근 → 공개 결과보고서로 대체 (행정동별 차등은 불가)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C5CAB"/>
                </a:solidFill>
                <a:latin typeface="Apple SD Gothic Neo"/>
              </a:rPr>
              <a:t>핵심 알고리즘: 격차 점수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gap_score = 0.5 × 정규화(외국인 비율) + 0.5 × (1 − 정규화(접근성))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• 수요: 행정동 외국인 비율 (pop_foreign / pop_total)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• 접근성: 2SFCA 지수, 기본 임계거리 3km (1·5km도 함께 비교)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• 가중치 0.5/0.5: GM 검수를 거친 중립값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 b="0">
                <a:latin typeface="Apple SD Gothic Neo"/>
              </a:rPr>
              <a:t>결과: 구룡포읍, 장기면, 호미곶면, 대송면 네 곳은 임계거리를 1·3·5km로 바꿔도 항상 상위 5위 안에 남습니다.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C5CAB"/>
                </a:solidFill>
                <a:latin typeface="Apple SD Gothic Neo"/>
              </a:rPr>
              <a:t>LLM 정책 카드: 근거를 지키게 하는 가드레일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1. 입력: 격차 점수·순위 + 행정동 사실 + 조사 수치 (조사 수치와 행정동 사실을 구분해 인용)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2. 출력 검사: 추론 과정 누출, 한자·외국어 혼입, 미완성 응답, 프롬프트에 없는 수치, '처방전 없이 약 제공' 같은 부적절 제안 → 자동 재생성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3. 실제 발견: 가드레일 없이는 29건이 거의 같은 처방으로 수렴했고, 약사법에 어긋나는 제안도 나왔습니다.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4. 한계: 형식·수치만 검증합니다. 정책의 타당성은 사람(GM)이 검수합니다.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C5CAB"/>
                </a:solidFill>
                <a:latin typeface="Apple SD Gothic Neo"/>
              </a:rPr>
              <a:t>실제 분석 결과: 포항시 의료 인프라 격차 점수 상위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645920"/>
                <a:gridCol w="1463040"/>
                <a:gridCol w="1645920"/>
                <a:gridCol w="2377440"/>
                <a:gridCol w="31089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Apple SD Gothic Neo"/>
                        </a:rPr>
                        <a:t>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pple SD Gothic Neo"/>
                        </a:rPr>
                        <a:t>행정동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pple SD Gothic Neo"/>
                        </a:rPr>
                        <a:t>격차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pple SD Gothic Neo"/>
                        </a:rPr>
                        <a:t>외국인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pple SD Gothic Neo"/>
                        </a:rPr>
                        <a:t>1·3·5km 순위 변동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pple SD Gothic Neo"/>
                        </a:rPr>
                        <a:t>격차 유형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구룡포읍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0.883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복합 취약형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장기면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2위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복합 취약형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호미곶면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0.711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10.9%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1위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복합 취약형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대송면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0.639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2위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복합 취약형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죽장면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4위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복합 취약형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동해면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0.506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7위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복합 취약형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신광면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0.505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7위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접근성 부족형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청하면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0.501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8위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pple SD Gothic Neo"/>
                        </a:rPr>
                        <a:t>복합 취약형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pple SD Gothic Neo"/>
              </a:rPr>
              <a:t>남구 외곽 읍·면(구룡포읍·장기면·호미곶면·대송면)은 인구가 적고 외국인 비율이 높으며 의료시설이 드뭅니다.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pple SD Gothic Neo"/>
              </a:rPr>
              <a:t>순위가 크게 흔들리는 동(예: 송라면 변동 14위)은 '몇 위'라고 단정하지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C5CAB"/>
                </a:solidFill>
                <a:latin typeface="Apple SD Gothic Neo"/>
              </a:rPr>
              <a:t>산출물: 통합 대시보드와 정책 카드</a:t>
            </a:r>
          </a:p>
        </p:txBody>
      </p:sp>
      <p:pic>
        <p:nvPicPr>
          <p:cNvPr id="3" name="Picture 2" descr="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4180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latin typeface="Apple SD Gothic Neo"/>
              </a:rPr>
              <a:t>구룡포읍 정책 카드 (격차 1위)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latin typeface="Apple SD Gothic Neo"/>
              </a:rPr>
              <a:t>[근거] 경북 1권역 조사에 따르면 병원/의원 이용 비율은 62.3%라고 합니다.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Apple SD Gothic Neo"/>
              </a:rPr>
              <a:t>포항시 구룡포읍의 외국인 주민 비율은 15.1%로, 읍 주민센터에 외국인 전용 건강 상담 창구를 설치하고 주 2회 간호사가 방문하여 기본 건강 검진 및 언어 지원을 제공합니다.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Apple SD Gothic Neo"/>
              </a:rPr>
              <a:t>이와 함께 지역 내 문화센터에서 모국어별 건강 교육 워크숍을 정기적으로 개최하여 예방 의료 인식을 높입니다.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C5CAB"/>
                </a:solidFill>
                <a:latin typeface="Apple SD Gothic Neo"/>
              </a:rPr>
              <a:t>기대효과와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기대효과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근거 중심 행정: 어느 동을 먼저 볼지 데이터로 제시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예산 효율화: 상위 4곳은 지표 선택에 흔들리지 않는 우선 후보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외국인 주민 정주 여건 개선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한계 (먼저 밝힙니다)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행정동별로 달라지는 수요 신호(체감 결핍)는 없음 — 배경 근거는 경북 1권역·전국 수치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의료 단일 지표, 수요점은 총인구 기준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Apple SD Gothic Neo"/>
              </a:rPr>
              <a:t>• 다른 도시 이식은 읍면동별 외국인 주민 데이터 확보가 선결 조건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