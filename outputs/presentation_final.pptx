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31159"/>
            <a:ext cx="4937760" cy="4995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737360"/>
            <a:ext cx="3931920" cy="420624"/>
          </a:xfrm>
          <a:prstGeom prst="roundRect">
            <a:avLst>
              <a:gd name="adj" fmla="val 50000"/>
            </a:avLst>
          </a:prstGeom>
          <a:solidFill>
            <a:srgbClr val="133B40"/>
          </a:solidFill>
          <a:ln w="12700">
            <a:solidFill>
              <a:srgbClr val="1F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DD4BF"/>
                </a:solidFill>
                <a:latin typeface="Apple SD Gothic Neo"/>
              </a:rPr>
              <a:t>공공데이터 &amp; AI 융합 의사결정 지원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6217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pple SD Gothic Neo"/>
              </a:rPr>
              <a:t>포항시 외국인 주민 생활 인프라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pple SD Gothic Neo"/>
              </a:rPr>
              <a:t>격차 진단·정책 후보 생성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Apple SD Gothic Neo"/>
              </a:rPr>
              <a:t>공간 데이터 2SFCA 분석과 LLM 기반 근거 중심 정책 리포팅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73328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65099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Apple SD Gothic Neo"/>
              </a:rPr>
              <a:t>민트색: 기준을 바꿔도 격차 상위 5위에 남는 4개 읍·면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왜 이 문제인가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정주 여건의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2</a:t>
            </a:r>
          </a:p>
        </p:txBody>
      </p:sp>
      <p:pic>
        <p:nvPicPr>
          <p:cNvPr id="5" name="Picture 4" descr="problem_photo.jpg"/>
          <p:cNvPicPr>
            <a:picLocks noChangeAspect="1"/>
          </p:cNvPicPr>
          <p:nvPr/>
        </p:nvPicPr>
        <p:blipFill>
          <a:blip r:embed="rId2"/>
          <a:srcRect l="26125" r="26125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dust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" y="1931212"/>
            <a:ext cx="252374" cy="252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1764792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외국인 주민의 지속적 유입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포스코·영일만 산업단지를 중심으로 외국인 노동자와 다문화 가구가 계속 늘고 있습니다.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53512"/>
            <a:ext cx="548640" cy="54864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" y="3101644"/>
            <a:ext cx="252374" cy="2523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935224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체계적 분석 부재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핵심 산업 인력인데도 의료·금융·행정 같은 기초 생활 인프라의 격차 진단이 없었습니다.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123944"/>
            <a:ext cx="548640" cy="54864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ngu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" y="4272076"/>
            <a:ext cx="252374" cy="2523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7320" y="4105656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언어·정보 장벽의 이중고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같은 인프라 결핍에서도 외국인은 내국인보다 더 큰 불이익을 겪습니다.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294376"/>
            <a:ext cx="548640" cy="54864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gnou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" y="5442508"/>
            <a:ext cx="252374" cy="2523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17320" y="5276088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지역 이탈 위기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정주 여건이 나빠지면 인구 유출과 산업 노동력 손실로 이어집니다.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무엇을 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어디부터, 무엇을 할지까지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487168" cy="283464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713232" cy="713232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72" y="2249972"/>
            <a:ext cx="328086" cy="3280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9718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9688"/>
                </a:solidFill>
                <a:latin typeface="Apple SD Gothic Neo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Apple SD Gothic Neo"/>
              </a:rPr>
              <a:t>공공데이터 수집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인구·외국인·병원·약국
위치와 규모</a:t>
            </a:r>
          </a:p>
        </p:txBody>
      </p:sp>
      <p:pic>
        <p:nvPicPr>
          <p:cNvPr id="10" name="Picture 9" descr="arrow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256" y="3063240"/>
            <a:ext cx="237744" cy="2377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456432" y="1783080"/>
            <a:ext cx="2487168" cy="283464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0752" y="2057400"/>
            <a:ext cx="713232" cy="713232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24" y="2249972"/>
            <a:ext cx="328086" cy="328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30752" y="29718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9688"/>
                </a:solidFill>
                <a:latin typeface="Apple SD Gothic Neo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24612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Apple SD Gothic Neo"/>
              </a:rPr>
              <a:t>격차 점수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29개 행정동마다
접근성 × 외국인 비율</a:t>
            </a:r>
          </a:p>
        </p:txBody>
      </p:sp>
      <p:pic>
        <p:nvPicPr>
          <p:cNvPr id="16" name="Picture 15" descr="arrow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3063240"/>
            <a:ext cx="237744" cy="23774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72784" y="1783080"/>
            <a:ext cx="2487168" cy="283464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47104" y="2057400"/>
            <a:ext cx="713232" cy="713232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676" y="2249972"/>
            <a:ext cx="328086" cy="32808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7104" y="29718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9688"/>
                </a:solidFill>
                <a:latin typeface="Apple SD Gothic Neo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24612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Apple SD Gothic Neo"/>
              </a:rPr>
              <a:t>LLM 정책 카드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동마다 정책 초안 작성
틀린 출력은 자동 재작성</a:t>
            </a:r>
          </a:p>
        </p:txBody>
      </p:sp>
      <p:pic>
        <p:nvPicPr>
          <p:cNvPr id="22" name="Picture 21" descr="arrow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063240"/>
            <a:ext cx="237744" cy="23774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089136" y="1783080"/>
            <a:ext cx="2487168" cy="28346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63456" y="2057400"/>
            <a:ext cx="713232" cy="713232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user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6028" y="2249972"/>
            <a:ext cx="328086" cy="3280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63456" y="29718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Apple SD Gothic Neo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24612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Apple SD Gothic Neo"/>
              </a:rPr>
              <a:t>사람 검수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정책 타당성은
GM이 최종 검토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98348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ple SD Gothic Neo"/>
              </a:rPr>
              <a:t>점수로 먼저 볼 동을 고르고, </a:t>
            </a:r>
            <a:r>
              <a:rPr sz="1800" b="1">
                <a:solidFill>
                  <a:srgbClr val="2DD4BF"/>
                </a:solidFill>
                <a:latin typeface="Apple SD Gothic Neo"/>
              </a:rPr>
              <a:t>그 동에 맞는 정책 초안</a:t>
            </a:r>
            <a:r>
              <a:rPr sz="1800" b="0">
                <a:solidFill>
                  <a:srgbClr val="FFFFFF"/>
                </a:solidFill>
                <a:latin typeface="Apple SD Gothic Neo"/>
              </a:rPr>
              <a:t>까지 만듭니다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모두 공개 데이터로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" y="1955901"/>
            <a:ext cx="294436" cy="2944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64792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172A"/>
                </a:solidFill>
                <a:latin typeface="Apple SD Gothic Neo"/>
              </a:rPr>
              <a:t>외국인·인구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KOSIS 포항시 지역통계(2025) · SGIS 행정동 경계와 집계구 인구 1,046개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" y="3327501"/>
            <a:ext cx="294436" cy="2944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3136392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172A"/>
                </a:solidFill>
                <a:latin typeface="Apple SD Gothic Neo"/>
              </a:rPr>
              <a:t>병원·약국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심평원 의료기관 908곳 · 병원은 의사 수로 규모 반영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" y="4699101"/>
            <a:ext cx="294436" cy="2944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8760" y="4507992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172A"/>
                </a:solidFill>
                <a:latin typeface="Apple SD Gothic Neo"/>
              </a:rPr>
              <a:t>배경 조사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경북 외국인주민 실태조사(2023) · 전국다문화가족실태조사(2025) 공개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783080"/>
            <a:ext cx="4462272" cy="4160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arn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10312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52360" y="26517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ple SD Gothic Neo"/>
              </a:rPr>
              <a:t>구하지 못한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246120"/>
            <a:ext cx="3794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DD4BF"/>
                </a:solidFill>
                <a:latin typeface="Apple SD Gothic Neo"/>
              </a:rPr>
              <a:t>금융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</a:rPr>
              <a:t>상가정보 API에 포항 금융업 0건 → 의료만 분석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2DD4BF"/>
                </a:solidFill>
                <a:latin typeface="Apple SD Gothic Neo"/>
              </a:rPr>
              <a:t>다문화가족실태조사 원자료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</a:rPr>
              <a:t>유료 원격접근만 가능 → 공개 보고서로 대체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94A3B8"/>
                </a:solidFill>
                <a:latin typeface="Apple SD Gothic Neo"/>
              </a:rPr>
              <a:t>그래서 동마다 다른 체감 결핍은 반영하지 못했습니다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핵심 알고리즘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격차 점수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08792" cy="1645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087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격차 점수  =  0.5 × </a:t>
            </a:r>
            <a:r>
              <a:rPr sz="3000" b="1">
                <a:solidFill>
                  <a:srgbClr val="0F9688"/>
                </a:solidFill>
                <a:latin typeface="Apple SD Gothic Neo"/>
              </a:rPr>
              <a:t>외국인 비율</a:t>
            </a:r>
            <a:r>
              <a:rPr sz="3000" b="1">
                <a:solidFill>
                  <a:srgbClr val="0F172A"/>
                </a:solidFill>
                <a:latin typeface="Apple SD Gothic Neo"/>
              </a:rPr>
              <a:t>  +  0.5 × </a:t>
            </a:r>
            <a:r>
              <a:rPr sz="3000" b="1">
                <a:solidFill>
                  <a:srgbClr val="E8613C"/>
                </a:solidFill>
                <a:latin typeface="Apple SD Gothic Neo"/>
              </a:rPr>
              <a:t>(1 − 의료 접근성)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두 값 모두 0~1로 정규화 · 0에 가까울수록 여건이 좋은 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3483864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3977639"/>
            <a:ext cx="566928" cy="566928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90" y="4130710"/>
            <a:ext cx="260786" cy="2607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19" y="470916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외국인 비율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외국인 주민 수 ÷ 동 인구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3703320"/>
            <a:ext cx="3483864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2583" y="3977639"/>
            <a:ext cx="566928" cy="566928"/>
          </a:xfrm>
          <a:prstGeom prst="ellipse">
            <a:avLst/>
          </a:prstGeom>
          <a:solidFill>
            <a:srgbClr val="E8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654" y="4130710"/>
            <a:ext cx="260786" cy="2607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2583" y="470916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의료 접근성 (2SFCA)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주민 1명이 이용할 수 있는 의사 수를 거리 3km 안에서 계산 · 1km·5km로도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3703320"/>
            <a:ext cx="3483864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5047" y="3977639"/>
            <a:ext cx="566928" cy="566928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118" y="4130710"/>
            <a:ext cx="260786" cy="26078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85047" y="470916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가중치 0.5 : 0.5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Apple SD Gothic Neo"/>
              </a:rPr>
              <a:t>어느 쪽을 더 크게 볼 근거가 없어 같게 둠 (GM 검수)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LLM 가드레일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정책 카드는 검사를 통과해야 나갑니다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점수·동 정보·조사 수치</a:t>
            </a:r>
          </a:p>
        </p:txBody>
      </p:sp>
      <p:pic>
        <p:nvPicPr>
          <p:cNvPr id="7" name="Picture 6" descr="arrow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5" y="1984248"/>
            <a:ext cx="164592" cy="1645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880360" y="17830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7830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LLM 초안</a:t>
            </a:r>
          </a:p>
        </p:txBody>
      </p:sp>
      <p:pic>
        <p:nvPicPr>
          <p:cNvPr id="10" name="Picture 9" descr="arrow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984248"/>
            <a:ext cx="164592" cy="164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80560" y="17830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자동 검사</a:t>
            </a:r>
          </a:p>
        </p:txBody>
      </p:sp>
      <p:pic>
        <p:nvPicPr>
          <p:cNvPr id="13" name="Picture 12" descr="arrow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1984248"/>
            <a:ext cx="164592" cy="1645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80760" y="17830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GM 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이런 출력은 다시 쓰게 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mes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4440" y="32004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Apple SD Gothic Neo"/>
              </a:rPr>
              <a:t>입력에 없는 숫자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86784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imes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97096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4440" y="3986784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Apple SD Gothic Neo"/>
              </a:rPr>
              <a:t>한자·외국어가 섞인 문장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73168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imes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83480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4440" y="4773168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Apple SD Gothic Neo"/>
              </a:rPr>
              <a:t>중간에 잘린 응답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95928" y="3200400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imes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3410712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90288" y="32004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Apple SD Gothic Neo"/>
              </a:rPr>
              <a:t>추론 과정이 새어 나온 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95928" y="3986784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imes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4197096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90288" y="3986784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Apple SD Gothic Neo"/>
              </a:rPr>
              <a:t>위법 제안 (처방전 없이 약 제공)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95928" y="4773168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4983480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90288" y="4773168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9688"/>
                </a:solidFill>
                <a:latin typeface="Apple SD Gothic Neo"/>
              </a:rPr>
              <a:t>통과한 카드만 GM에게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코드는 형식·숫자만 확인하고, 정책이 타당한지는 사람이 봅니다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1783080"/>
            <a:ext cx="3822191" cy="4160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2103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4A3B8"/>
                </a:solidFill>
                <a:latin typeface="Apple SD Gothic Neo"/>
              </a:rPr>
              <a:t>검사 없이 돌렸을 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51460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E8613C"/>
                </a:solidFill>
                <a:latin typeface="Apple SD Gothic Neo"/>
              </a:rPr>
              <a:t>29</a:t>
            </a:r>
            <a:r>
              <a:rPr sz="2600" b="1">
                <a:solidFill>
                  <a:srgbClr val="E8613C"/>
                </a:solidFill>
                <a:latin typeface="Apple SD Gothic Neo"/>
              </a:rPr>
              <a:t>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749039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Apple SD Gothic Neo"/>
              </a:rPr>
              <a:t>거의 같은 처방으로 수렴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Apple SD Gothic Neo"/>
              </a:rPr>
              <a:t>동마다 사정이 다른데도 비슷한 정책이 나왔고, 약사법에 어긋나는 제안도 섞였습니다. 그래서 위 검사를 만들었습니다.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남구 외곽 읍·면 4곳이 먼저 볼 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7</a:t>
            </a:r>
          </a:p>
        </p:txBody>
      </p:sp>
      <p:pic>
        <p:nvPicPr>
          <p:cNvPr id="5" name="Picture 4" descr="map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44" y="1463040"/>
            <a:ext cx="506127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7830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Apple SD Gothic Neo"/>
              </a:rPr>
              <a:t>1·3·5km 어느 기준에서도 </a:t>
            </a:r>
            <a:r>
              <a:rPr sz="1600" b="1">
                <a:solidFill>
                  <a:srgbClr val="E8613C"/>
                </a:solidFill>
                <a:latin typeface="Apple SD Gothic Neo"/>
              </a:rPr>
              <a:t>격차 상위 5위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239512" cy="658368"/>
          </a:xfrm>
          <a:prstGeom prst="roundRect">
            <a:avLst>
              <a:gd name="adj" fmla="val 6000"/>
            </a:avLst>
          </a:prstGeom>
          <a:solidFill>
            <a:srgbClr val="FD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73952" y="2505456"/>
            <a:ext cx="402336" cy="402336"/>
          </a:xfrm>
          <a:prstGeom prst="ellipse">
            <a:avLst/>
          </a:prstGeom>
          <a:solidFill>
            <a:srgbClr val="E8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50545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37744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구룡포읍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377440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격차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0.88</a:t>
            </a:r>
            <a:r>
              <a:rPr sz="1200" b="0">
                <a:solidFill>
                  <a:srgbClr val="475569"/>
                </a:solidFill>
                <a:latin typeface="Apple SD Gothic Neo"/>
              </a:rPr>
              <a:t>   외국인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15.1%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163824"/>
            <a:ext cx="523951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3291840"/>
            <a:ext cx="402336" cy="402336"/>
          </a:xfrm>
          <a:prstGeom prst="ellipse">
            <a:avLst/>
          </a:prstGeom>
          <a:solidFill>
            <a:srgbClr val="E8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29184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163824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장기면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163824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격차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0.72</a:t>
            </a:r>
            <a:r>
              <a:rPr sz="1200" b="0">
                <a:solidFill>
                  <a:srgbClr val="475569"/>
                </a:solidFill>
                <a:latin typeface="Apple SD Gothic Neo"/>
              </a:rPr>
              <a:t>   외국인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7.3%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50208"/>
            <a:ext cx="523951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3952" y="4078224"/>
            <a:ext cx="402336" cy="402336"/>
          </a:xfrm>
          <a:prstGeom prst="ellipse">
            <a:avLst/>
          </a:prstGeom>
          <a:solidFill>
            <a:srgbClr val="E8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0782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950208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호미곶면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950208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격차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0.71</a:t>
            </a:r>
            <a:r>
              <a:rPr sz="1200" b="0">
                <a:solidFill>
                  <a:srgbClr val="475569"/>
                </a:solidFill>
                <a:latin typeface="Apple SD Gothic Neo"/>
              </a:rPr>
              <a:t>   외국인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10.9%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736592"/>
            <a:ext cx="523951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3952" y="4864607"/>
            <a:ext cx="402336" cy="402336"/>
          </a:xfrm>
          <a:prstGeom prst="ellipse">
            <a:avLst/>
          </a:prstGeom>
          <a:solidFill>
            <a:srgbClr val="E8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864607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736592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pple SD Gothic Neo"/>
              </a:rPr>
              <a:t>대송면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736592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격차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0.64</a:t>
            </a:r>
            <a:r>
              <a:rPr sz="1200" b="0">
                <a:solidFill>
                  <a:srgbClr val="475569"/>
                </a:solidFill>
                <a:latin typeface="Apple SD Gothic Neo"/>
              </a:rPr>
              <a:t>   외국인 </a:t>
            </a:r>
            <a:r>
              <a:rPr sz="1600" b="1">
                <a:solidFill>
                  <a:srgbClr val="0F172A"/>
                </a:solidFill>
                <a:latin typeface="Apple SD Gothic Neo"/>
              </a:rPr>
              <a:t>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623560"/>
            <a:ext cx="5239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포항에서 외국인 비율이 가장 높은 4곳 · 의료 접근성은 29개 동 중 2~12번째로 나쁨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Apple SD Gothic Neo"/>
              </a:rPr>
              <a:t>송라면처럼 기준에 따라 14계단 움직이는 동은 순위를 단정하지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방법을 바꿔도 같은 곳이 나오는가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83864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rs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210312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2103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75569"/>
                </a:solidFill>
                <a:latin typeface="Apple SD Gothic Neo"/>
              </a:rPr>
              <a:t>가중치를 바꿔도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0604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F9688"/>
                </a:solidFill>
                <a:latin typeface="Apple SD Gothic Neo"/>
              </a:rPr>
              <a:t>0.4</a:t>
            </a:r>
            <a:r>
              <a:rPr sz="1600" b="1">
                <a:solidFill>
                  <a:srgbClr val="0F9688"/>
                </a:solidFill>
                <a:latin typeface="Apple SD Gothic Neo"/>
              </a:rPr>
              <a:t> 이상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52044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외국인 비율 가중치를 0~1로 바꿔 봄. 이 값 이상이면 1·3·5km 모두 4곳이 5위 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783080"/>
            <a:ext cx="3483864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3" y="210312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21224" y="2103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75569"/>
                </a:solidFill>
                <a:latin typeface="Apple SD Gothic Neo"/>
              </a:rPr>
              <a:t>접근성 지표를 바꿔도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260604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F9688"/>
                </a:solidFill>
                <a:latin typeface="Apple SD Gothic Neo"/>
              </a:rPr>
              <a:t>4/4</a:t>
            </a:r>
            <a:r>
              <a:rPr sz="1600" b="1">
                <a:solidFill>
                  <a:srgbClr val="0F9688"/>
                </a:solidFill>
                <a:latin typeface="Apple SD Gothic Neo"/>
              </a:rPr>
              <a:t> 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352044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E2SFCA·반경 내 의사 수·최근접 거리·동 내 의사 수에서도 4곳 유지 (순위상관 0.44~0.90)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783080"/>
            <a:ext cx="3483864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ut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7" y="21031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33687" y="2103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75569"/>
                </a:solidFill>
                <a:latin typeface="Apple SD Gothic Neo"/>
              </a:rPr>
              <a:t>도로 거리로 재도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7" y="260604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F9688"/>
                </a:solidFill>
                <a:latin typeface="Apple SD Gothic Neo"/>
              </a:rPr>
              <a:t>0.90</a:t>
            </a:r>
            <a:r>
              <a:rPr sz="1600" b="1">
                <a:solidFill>
                  <a:srgbClr val="0F9688"/>
                </a:solidFill>
                <a:latin typeface="Apple SD Gothic Neo"/>
              </a:rPr>
              <a:t> 순위상관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352044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실제 도로는 직선의 약 1.28배. 도로 거리로 다시 계산해도 3/3개 기준에서 4곳 유지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37760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FD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lb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12080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00200" y="49377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4곳이 남는 건 주로 높은 외국인 비율 때문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접근성만 보면 </a:t>
            </a:r>
            <a:r>
              <a:rPr sz="1300" b="1">
                <a:solidFill>
                  <a:srgbClr val="475569"/>
                </a:solidFill>
                <a:latin typeface="Apple SD Gothic Neo"/>
              </a:rPr>
              <a:t>2~29위</a:t>
            </a:r>
            <a:r>
              <a:rPr sz="1300" b="0">
                <a:solidFill>
                  <a:srgbClr val="475569"/>
                </a:solidFill>
                <a:latin typeface="Apple SD Gothic Neo"/>
              </a:rPr>
              <a:t>로 흩어집니다. 그래서 '병원이 가장 부족한 곳'이 아니라 </a:t>
            </a:r>
            <a:r>
              <a:rPr sz="1300" b="1">
                <a:solidFill>
                  <a:srgbClr val="E8613C"/>
                </a:solidFill>
                <a:latin typeface="Apple SD Gothic Neo"/>
              </a:rPr>
              <a:t>'먼저 살펴볼 곳'</a:t>
            </a:r>
            <a:r>
              <a:rPr sz="1300" b="0">
                <a:solidFill>
                  <a:srgbClr val="475569"/>
                </a:solidFill>
                <a:latin typeface="Apple SD Gothic Neo"/>
              </a:rPr>
              <a:t>으로 봅니다. 정답 데이터가 없어 정확도 자체는 재지 못했습니다.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다학제 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83864" cy="3520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148840"/>
            <a:ext cx="822960" cy="82296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39" y="2371039"/>
            <a:ext cx="378561" cy="378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246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Apple SD Gothic Neo"/>
              </a:rPr>
              <a:t>컴퓨터공학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공공데이터 수집·정제 파이프라인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공간데이터(GIS) 처리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격차 지도·대시보드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783080"/>
            <a:ext cx="3483864" cy="3520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18304" y="2148840"/>
            <a:ext cx="822960" cy="82296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503" y="2371039"/>
            <a:ext cx="378561" cy="3785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18304" y="3246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Apple SD Gothic Neo"/>
              </a:rPr>
              <a:t>AI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38404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2SFCA 접근성 계산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LLM 정책 카드 생성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출력 자동 검사·재작성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783080"/>
            <a:ext cx="3483864" cy="3520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7" y="2148840"/>
            <a:ext cx="822960" cy="822960"/>
          </a:xfrm>
          <a:prstGeom prst="ellipse">
            <a:avLst/>
          </a:prstGeom>
          <a:solidFill>
            <a:srgbClr val="0F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967" y="2371039"/>
            <a:ext cx="378561" cy="3785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30767" y="3246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Apple SD Gothic Neo"/>
              </a:rPr>
              <a:t>글로벌 매니지먼트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38404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문제 정의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가중치 설계·검수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Apple SD Gothic Neo"/>
              </a:rPr>
              <a:t>· 정책 타당성 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Apple SD Gothic Neo"/>
              </a:rPr>
              <a:t>코드가 낸 결과를 </a:t>
            </a:r>
            <a:r>
              <a:rPr sz="1600" b="1">
                <a:solidFill>
                  <a:srgbClr val="0F9688"/>
                </a:solidFill>
                <a:latin typeface="Apple SD Gothic Neo"/>
              </a:rPr>
              <a:t>정책 전공이 검토</a:t>
            </a:r>
            <a:r>
              <a:rPr sz="1600" b="0">
                <a:solidFill>
                  <a:srgbClr val="475569"/>
                </a:solidFill>
                <a:latin typeface="Apple SD Gothic Neo"/>
              </a:rPr>
              <a:t>하는 구조로 역할을 나눴습니다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대시보드와 정책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492240" cy="4206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7" y="1920240"/>
            <a:ext cx="6099585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737360"/>
            <a:ext cx="409651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79" y="20116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11680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8613C"/>
                </a:solidFill>
                <a:latin typeface="Apple SD Gothic Neo"/>
              </a:rPr>
              <a:t>격차 1위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4688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Apple SD Gothic Neo"/>
              </a:rPr>
              <a:t>구룡포읍 정책 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017520"/>
            <a:ext cx="35661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[근거] 경북 1권역 조사에 따르면 병원/의원 이용 비율은 62.3%라고 합니다.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포항시 구룡포읍의 외국인 주민 비율은 15.1%로, 읍 주민센터에 외국인 전용 건강 상담 창구를 설치하고 주 2회 간호사가 방문하여 기본 건강 검진 및 언어 지원을 제공합니다.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이와 함께 지역 내 문화센터에서 모국어별 건강 교육 워크숍을 정기적으로 개최하여 예방 의료 인식을 높입니다.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기대 효과와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12664" cy="416052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Apple SD Gothic Neo"/>
              </a:rPr>
              <a:t>기대 효과</a:t>
            </a:r>
          </a:p>
        </p:txBody>
      </p:sp>
      <p:pic>
        <p:nvPicPr>
          <p:cNvPr id="7" name="Picture 6" descr="check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35224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8803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93B"/>
                </a:solidFill>
                <a:latin typeface="Apple SD Gothic Neo"/>
              </a:rPr>
              <a:t>어느 동부터 볼지 데이터로 우선순위를 정함</a:t>
            </a:r>
          </a:p>
        </p:txBody>
      </p:sp>
      <p:pic>
        <p:nvPicPr>
          <p:cNvPr id="9" name="Picture 8" descr="check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849624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37947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93B"/>
                </a:solidFill>
                <a:latin typeface="Apple SD Gothic Neo"/>
              </a:rPr>
              <a:t>상위 4곳은 기준을 바꿔도 유지 → 예산 우선 후보</a:t>
            </a:r>
          </a:p>
        </p:txBody>
      </p:sp>
      <p:pic>
        <p:nvPicPr>
          <p:cNvPr id="11" name="Picture 10" descr="check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764024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47091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93B"/>
                </a:solidFill>
                <a:latin typeface="Apple SD Gothic Neo"/>
              </a:rPr>
              <a:t>공개 데이터만 사용 → 새 통계로 매년 다시 계산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83080"/>
            <a:ext cx="5312664" cy="4160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Apple SD Gothic Neo"/>
              </a:rPr>
              <a:t>한계</a:t>
            </a:r>
          </a:p>
        </p:txBody>
      </p:sp>
      <p:pic>
        <p:nvPicPr>
          <p:cNvPr id="15" name="Picture 14" descr="warn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935224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04888" y="28803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93B"/>
                </a:solidFill>
                <a:latin typeface="Apple SD Gothic Neo"/>
              </a:rPr>
              <a:t>동별 체감 결핍 자료 없음 (경북·전국 조사 수치만)</a:t>
            </a:r>
          </a:p>
        </p:txBody>
      </p:sp>
      <p:pic>
        <p:nvPicPr>
          <p:cNvPr id="17" name="Picture 16" descr="warn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849624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04888" y="37947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93B"/>
                </a:solidFill>
                <a:latin typeface="Apple SD Gothic Neo"/>
              </a:rPr>
              <a:t>의료 한 분야만 분석 · 현장 검증 자료 없음</a:t>
            </a:r>
          </a:p>
        </p:txBody>
      </p:sp>
      <p:pic>
        <p:nvPicPr>
          <p:cNvPr id="19" name="Picture 18" descr="warn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476402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04888" y="47091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93B"/>
                </a:solidFill>
                <a:latin typeface="Apple SD Gothic Neo"/>
              </a:rPr>
              <a:t>다른 도시에 쓰려면 읍면동별 외국인 주민 자료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Apple SD Gothic Neo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94A3B8"/>
                </a:solidFill>
                <a:latin typeface="Apple SD Gothic Neo"/>
              </a:rPr>
              <a:t>데이터로 구현하는 포항시의 포용적 미래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4160520"/>
            <a:ext cx="5971032" cy="64008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4160520"/>
            <a:ext cx="59710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DD4BF"/>
                </a:solidFill>
                <a:latin typeface="Apple SD Gothic Neo"/>
              </a:rPr>
              <a:t>포항시 외국인 주민 생활 인프라 격차 진단·정책 후보 생성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pple SD Gothic Neo"/>
              </a:rPr>
              <a:t>13</a:t>
            </a:r>
          </a:p>
        </p:txBody>
      </p:sp>
      <p:pic>
        <p:nvPicPr>
          <p:cNvPr id="5" name="Picture 4" descr="problem_photo.jpg"/>
          <p:cNvPicPr>
            <a:picLocks noChangeAspect="1"/>
          </p:cNvPicPr>
          <p:nvPr/>
        </p:nvPicPr>
        <p:blipFill>
          <a:blip r:embed="rId2"/>
          <a:srcRect t="1317" b="1317"/>
          <a:stretch>
            <a:fillRect/>
          </a:stretch>
        </p:blipFill>
        <p:spPr>
          <a:xfrm>
            <a:off x="640080" y="1783080"/>
            <a:ext cx="118872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7400" y="1783080"/>
            <a:ext cx="9418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https://knic.com.vn/wp-content/uploads/2026/05/KCN-Bau-Can_NK_PCTT_fr2-1.jpg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F9688"/>
                </a:solidFill>
                <a:latin typeface="Apple SD Gothic Neo"/>
              </a:rPr>
              <a:t>Source: knic.com.vn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지도·대시보드·정책 카드는 이 프로젝트의 분석 결과로 직접 만들었습니다. 아이콘: Font Awesome (react-icons)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